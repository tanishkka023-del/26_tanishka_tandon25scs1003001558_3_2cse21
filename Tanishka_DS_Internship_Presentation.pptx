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Focus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Pandas</c:v>
                </c:pt>
                <c:pt idx="1">
                  <c:v>NumPy</c:v>
                </c:pt>
                <c:pt idx="2">
                  <c:v>Scikit-Learn</c:v>
                </c:pt>
                <c:pt idx="3">
                  <c:v>Matplotlib/Seaborn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20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Decision
Tree</c:v>
                </c:pt>
                <c:pt idx="2">
                  <c:v>SVM</c:v>
                </c:pt>
                <c:pt idx="3">
                  <c:v>Random
Forest</c:v>
                </c:pt>
                <c:pt idx="4">
                  <c:v>KNN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78.5</c:v>
                </c:pt>
                <c:pt idx="1">
                  <c:v>82.1</c:v>
                </c:pt>
                <c:pt idx="2">
                  <c:v>85.4</c:v>
                </c:pt>
                <c:pt idx="3">
                  <c:v>91.2</c:v>
                </c:pt>
                <c:pt idx="4">
                  <c:v>80.3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6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(LPA)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Entry Level
(0-2 yrs)</c:v>
                </c:pt>
                <c:pt idx="1">
                  <c:v>Mid Level
(3-7 yrs)</c:v>
                </c:pt>
                <c:pt idx="2">
                  <c:v>Senior
(8-12 yrs)</c:v>
                </c:pt>
                <c:pt idx="3">
                  <c:v>Director/VP
(12+ yrs)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18</c:v>
                </c:pt>
                <c:pt idx="2">
                  <c:v>40</c:v>
                </c:pt>
                <c:pt idx="3">
                  <c:v>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Data Science with Python</a:t>
            </a:r>
            <a:br/>
            <a:r>
              <a:t>Expert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Internship Presentation</a:t>
            </a:r>
            <a:br/>
            <a:br/>
            <a:r>
              <a:t>NAME: TANISHKA TANDON</a:t>
            </a:r>
            <a:br/>
            <a:r>
              <a:t>Section: 2CSE21</a:t>
            </a:r>
            <a:br/>
            <a:r>
              <a:t>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A73E8"/>
                </a:solidFill>
                <a:latin typeface="Segoe UI"/>
              </a:defRPr>
            </a:pPr>
            <a:r>
              <a:t>Internship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Information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Data Science with Python Expert Internship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Henry Harvin Education (Est. 2013, Noida)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Skill India Digital Hub (MSDE, Govt. of India)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1 Month (4 Weeks)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Domain /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Data Science &amp; Engineering / IT-ITeS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Segoe UI"/>
                        </a:defRPr>
                      </a:pPr>
                      <a:r>
                        <a:t>FREE (Government Initiative)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A73E8"/>
                </a:solidFill>
                <a:latin typeface="Segoe UI"/>
              </a:defRPr>
            </a:pPr>
            <a:r>
              <a:t>The Data Science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560320"/>
            <a:ext cx="1371600" cy="128016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Data</a:t>
            </a:r>
            <a:br/>
            <a:r>
              <a:t>Ingestion</a:t>
            </a:r>
          </a:p>
          <a:p>
            <a:pPr algn="ctr">
              <a:defRPr sz="1100" i="1">
                <a:solidFill>
                  <a:srgbClr val="DCDCFF"/>
                </a:solidFill>
              </a:defRPr>
            </a:pPr>
            <a:r>
              <a:t>CSV, SQL</a:t>
            </a:r>
            <a:br/>
            <a:r>
              <a:t>Pandas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737360" y="3017520"/>
            <a:ext cx="320040" cy="320040"/>
          </a:xfrm>
          <a:prstGeom prst="rightArrow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560320"/>
            <a:ext cx="1371600" cy="128016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Data</a:t>
            </a:r>
            <a:br/>
            <a:r>
              <a:t>Cleaning</a:t>
            </a:r>
          </a:p>
          <a:p>
            <a:pPr algn="ctr">
              <a:defRPr sz="1100" i="1">
                <a:solidFill>
                  <a:srgbClr val="DCDCFF"/>
                </a:solidFill>
              </a:defRPr>
            </a:pPr>
            <a:r>
              <a:t>Missing Vals</a:t>
            </a:r>
            <a:br/>
            <a:r>
              <a:t>Outliers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29000" y="3017520"/>
            <a:ext cx="320040" cy="320040"/>
          </a:xfrm>
          <a:prstGeom prst="rightArrow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9040" y="2560320"/>
            <a:ext cx="1371600" cy="128016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EDA &amp;</a:t>
            </a:r>
            <a:br/>
            <a:r>
              <a:t>Visuals</a:t>
            </a:r>
          </a:p>
          <a:p>
            <a:pPr algn="ctr">
              <a:defRPr sz="1100" i="1">
                <a:solidFill>
                  <a:srgbClr val="DCDCFF"/>
                </a:solidFill>
              </a:defRPr>
            </a:pPr>
            <a:r>
              <a:t>Matplotlib</a:t>
            </a:r>
            <a:br/>
            <a:r>
              <a:t>Seaborn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20640" y="3017520"/>
            <a:ext cx="320040" cy="320040"/>
          </a:xfrm>
          <a:prstGeom prst="rightArrow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40680" y="2560320"/>
            <a:ext cx="1371600" cy="128016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Machine</a:t>
            </a:r>
            <a:br/>
            <a:r>
              <a:t>Learning</a:t>
            </a:r>
          </a:p>
          <a:p>
            <a:pPr algn="ctr">
              <a:defRPr sz="1100" i="1">
                <a:solidFill>
                  <a:srgbClr val="DCDCFF"/>
                </a:solidFill>
              </a:defRPr>
            </a:pPr>
            <a:r>
              <a:t>Scikit-Learn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12280" y="3017520"/>
            <a:ext cx="320040" cy="320040"/>
          </a:xfrm>
          <a:prstGeom prst="rightArrow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2560320"/>
            <a:ext cx="1371600" cy="128016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Evaluation</a:t>
            </a:r>
            <a:br/>
            <a:r>
              <a:t>&amp; Tuning</a:t>
            </a:r>
          </a:p>
          <a:p>
            <a:pPr algn="ctr">
              <a:defRPr sz="1100" i="1">
                <a:solidFill>
                  <a:srgbClr val="DCDCFF"/>
                </a:solidFill>
              </a:defRPr>
            </a:pPr>
            <a:r>
              <a:t>Metrics</a:t>
            </a:r>
            <a:br/>
            <a:r>
              <a:t>GridSearch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A73E8"/>
                </a:solidFill>
                <a:latin typeface="Segoe UI"/>
              </a:defRPr>
            </a:pPr>
            <a:r>
              <a:t>Python Libraries Focus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A73E8"/>
                </a:solidFill>
                <a:latin typeface="Segoe UI"/>
              </a:defRPr>
            </a:pPr>
            <a:r>
              <a:t>Supervised vs Unsupervised Learning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Supervised Learning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Unsupervised Learning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latin typeface="Segoe UI"/>
                        </a:defRPr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Segoe UI"/>
                        </a:defRPr>
                      </a:pPr>
                      <a:r>
                        <a:t>Labeled (Input + Output)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Segoe UI"/>
                        </a:defRPr>
                      </a:pPr>
                      <a:r>
                        <a:t>Unlabeled (Input only)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latin typeface="Segoe UI"/>
                        </a:defRPr>
                      </a:pPr>
                      <a:r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Segoe UI"/>
                        </a:defRPr>
                      </a:pPr>
                      <a:r>
                        <a:t>Predict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Segoe UI"/>
                        </a:defRPr>
                      </a:pPr>
                      <a:r>
                        <a:t>Discover hidden patterns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latin typeface="Segoe UI"/>
                        </a:defRPr>
                      </a:pPr>
                      <a:r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Segoe UI"/>
                        </a:defRPr>
                      </a:pPr>
                      <a:r>
                        <a:t>Linear/Logistic Regression,</a:t>
                      </a:r>
                    </a:p>
                    <a:p>
                      <a:r>
                        <a:t>Decision Trees, Random Forest,</a:t>
                      </a:r>
                    </a:p>
                    <a:p>
                      <a:r>
                        <a:t>SVM, 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Segoe UI"/>
                        </a:defRPr>
                      </a:pPr>
                      <a:r>
                        <a:t>K-Means Clustering,</a:t>
                      </a:r>
                    </a:p>
                    <a:p>
                      <a:r>
                        <a:t>PCA, DBSCAN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latin typeface="Segoe UI"/>
                        </a:defRPr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Segoe UI"/>
                        </a:defRPr>
                      </a:pPr>
                      <a:r>
                        <a:t>Accuracy, Precision,</a:t>
                      </a:r>
                    </a:p>
                    <a:p>
                      <a:r>
                        <a:t>Recall, F1, 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Segoe UI"/>
                        </a:defRPr>
                      </a:pPr>
                      <a:r>
                        <a:t>Silhouette Score,</a:t>
                      </a:r>
                    </a:p>
                    <a:p>
                      <a:r>
                        <a:t>Elbow Method, Inertia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A73E8"/>
                </a:solidFill>
                <a:latin typeface="Segoe UI"/>
              </a:defRPr>
            </a:pPr>
            <a:r>
              <a:t>ML Model Accuracy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* Random Forest ensemble achieves highest accuracy by reducing overfitting through bagging.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A73E8"/>
                </a:solidFill>
                <a:latin typeface="Segoe UI"/>
              </a:defRPr>
            </a:pPr>
            <a:r>
              <a:t>Data 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47472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A73E8"/>
                </a:solidFill>
              </a:defRPr>
            </a:pPr>
            <a:r>
              <a:t>Missing Values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Imputation:</a:t>
            </a:r>
            <a:br/>
            <a:r>
              <a:t>Mean / Median / Mode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2011680"/>
            <a:ext cx="347472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A73E8"/>
                </a:solidFill>
              </a:defRPr>
            </a:pPr>
            <a:r>
              <a:t>Outlier Treatment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IQR Method</a:t>
            </a:r>
            <a:br/>
            <a:r>
              <a:t>Z-Score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347472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A73E8"/>
                </a:solidFill>
              </a:defRPr>
            </a:pPr>
            <a:r>
              <a:t>Feature Encoding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Label Encoding</a:t>
            </a:r>
            <a:br/>
            <a:r>
              <a:t>One-Hot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4023360"/>
            <a:ext cx="347472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A73E8"/>
                </a:solidFill>
              </a:defRPr>
            </a:pPr>
            <a:r>
              <a:t>Feature Scaling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Standardization</a:t>
            </a:r>
            <a:br/>
            <a:r>
              <a:t>Min-Max Scaling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A73E8"/>
                </a:solidFill>
                <a:latin typeface="Segoe UI"/>
              </a:defRPr>
            </a:pPr>
            <a:r>
              <a:t>Key Skills Acquired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474720" cy="164592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Python Mastery</a:t>
            </a:r>
          </a:p>
          <a:p>
            <a:pPr algn="ctr">
              <a:defRPr sz="1400">
                <a:solidFill>
                  <a:srgbClr val="DCE6FF"/>
                </a:solidFill>
              </a:defRPr>
            </a:pPr>
            <a:r>
              <a:t>NumPy, Pandas, Matplotlib,</a:t>
            </a:r>
            <a:br/>
            <a:r>
              <a:t>Seaborn, Scikit-Learn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2011680"/>
            <a:ext cx="3474720" cy="164592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Data Preprocessing</a:t>
            </a:r>
          </a:p>
          <a:p>
            <a:pPr algn="ctr">
              <a:defRPr sz="1400">
                <a:solidFill>
                  <a:srgbClr val="DCE6FF"/>
                </a:solidFill>
              </a:defRPr>
            </a:pPr>
            <a:r>
              <a:t>Cleaning, encoding, scaling</a:t>
            </a:r>
            <a:br/>
            <a:r>
              <a:t>on real-world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3474720" cy="164592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Machine Learning</a:t>
            </a:r>
          </a:p>
          <a:p>
            <a:pPr algn="ctr">
              <a:defRPr sz="1400">
                <a:solidFill>
                  <a:srgbClr val="DCE6FF"/>
                </a:solidFill>
              </a:defRPr>
            </a:pPr>
            <a:r>
              <a:t>Regression, Classification,</a:t>
            </a:r>
            <a:br/>
            <a:r>
              <a:t>Clustering, Model 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4023360"/>
            <a:ext cx="3474720" cy="1645920"/>
          </a:xfrm>
          <a:prstGeom prst="roundRect">
            <a:avLst/>
          </a:prstGeom>
          <a:solidFill>
            <a:srgbClr val="1A73E8"/>
          </a:solidFill>
          <a:ln>
            <a:solidFill>
              <a:srgbClr val="14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Business Acumen</a:t>
            </a:r>
          </a:p>
          <a:p>
            <a:pPr algn="ctr">
              <a:defRPr sz="1400">
                <a:solidFill>
                  <a:srgbClr val="DCE6FF"/>
                </a:solidFill>
              </a:defRPr>
            </a:pPr>
            <a:r>
              <a:t>Translating data insights</a:t>
            </a:r>
            <a:br/>
            <a:r>
              <a:t>into actionable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A73E8"/>
                </a:solidFill>
                <a:latin typeface="Segoe UI"/>
              </a:defRPr>
            </a:pPr>
            <a:r>
              <a:t>Data Science Salary Outlook (India)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Source: Industry surveys 2025-2026. Ranges vary by company, location, and specialization.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"/>
              </a:defRPr>
            </a:pPr>
            <a:r>
              <a:t>TANISHKA TANDON | 2CSE21</a:t>
            </a:r>
            <a:br/>
            <a:r>
              <a:t>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