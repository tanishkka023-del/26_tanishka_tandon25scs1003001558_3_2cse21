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Network Security Engineer</a:t>
            </a:r>
            <a:br/>
            <a:r>
              <a:t>Course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F"/>
                </a:solidFill>
                <a:latin typeface="Segoe UI"/>
              </a:defRPr>
            </a:pPr>
            <a:r>
              <a:t>NAME: TANISHKA TANDON</a:t>
            </a:r>
            <a:br/>
            <a:r>
              <a:t>Section: 2CSE21</a:t>
            </a:r>
            <a:br/>
            <a:r>
              <a:t>IILM University, Greater Noida</a:t>
            </a:r>
            <a:br/>
            <a:r>
              <a:t>Provider: NASSCOM via Skill India Digital 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800" b="1">
                <a:solidFill>
                  <a:srgbClr val="004080"/>
                </a:solidFill>
                <a:latin typeface="Segoe UI"/>
              </a:defRPr>
            </a:pPr>
            <a:r>
              <a:t>Program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4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4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Course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Segoe UI"/>
                        </a:defRPr>
                      </a:pPr>
                      <a:r>
                        <a:t>Network Security Engineer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Certifying 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Segoe UI"/>
                        </a:defRPr>
                      </a:pPr>
                      <a:r>
                        <a:t>IT-ITeS SSC NASSCOM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Segoe UI"/>
                        </a:defRPr>
                      </a:pPr>
                      <a:r>
                        <a:t>Skill India Digital Hub (SIDH)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Core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Segoe UI"/>
                        </a:defRPr>
                      </a:pPr>
                      <a:r>
                        <a:t>Compliance, Architecture, Hardening, and Vulnerability Exploitation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800" b="1">
                <a:solidFill>
                  <a:srgbClr val="004080"/>
                </a:solidFill>
                <a:latin typeface="Segoe UI"/>
              </a:defRPr>
            </a:pPr>
            <a:r>
              <a:t>Core Modules Completed</a:t>
            </a:r>
          </a:p>
        </p:txBody>
      </p:sp>
      <p:sp>
        <p:nvSpPr>
          <p:cNvPr id="3" name="Chevron 2"/>
          <p:cNvSpPr/>
          <p:nvPr/>
        </p:nvSpPr>
        <p:spPr>
          <a:xfrm>
            <a:off x="1371600" y="1645920"/>
            <a:ext cx="6400800" cy="731520"/>
          </a:xfrm>
          <a:prstGeom prst="chevron">
            <a:avLst/>
          </a:prstGeom>
          <a:solidFill>
            <a:srgbClr val="0099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Module 1: Maintain Compliance to InfoSec Policies</a:t>
            </a:r>
          </a:p>
        </p:txBody>
      </p:sp>
      <p:sp>
        <p:nvSpPr>
          <p:cNvPr id="4" name="Chevron 3"/>
          <p:cNvSpPr/>
          <p:nvPr/>
        </p:nvSpPr>
        <p:spPr>
          <a:xfrm>
            <a:off x="1371600" y="2560320"/>
            <a:ext cx="6400800" cy="731520"/>
          </a:xfrm>
          <a:prstGeom prst="chevron">
            <a:avLst/>
          </a:prstGeom>
          <a:solidFill>
            <a:srgbClr val="0040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Module 2: Provide Network Security Recommendations</a:t>
            </a:r>
          </a:p>
        </p:txBody>
      </p:sp>
      <p:sp>
        <p:nvSpPr>
          <p:cNvPr id="5" name="Chevron 4"/>
          <p:cNvSpPr/>
          <p:nvPr/>
        </p:nvSpPr>
        <p:spPr>
          <a:xfrm>
            <a:off x="1371600" y="3474720"/>
            <a:ext cx="6400800" cy="731520"/>
          </a:xfrm>
          <a:prstGeom prst="chevron">
            <a:avLst/>
          </a:prstGeom>
          <a:solidFill>
            <a:srgbClr val="0099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Module 3: Configuration Review &amp; Recommendations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1371600" y="4389120"/>
            <a:ext cx="6400800" cy="731520"/>
          </a:xfrm>
          <a:prstGeom prst="chevron">
            <a:avLst/>
          </a:prstGeom>
          <a:solidFill>
            <a:srgbClr val="0040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Module 4: Identify &amp; Exploit Vulnerabilities</a:t>
            </a:r>
          </a:p>
        </p:txBody>
      </p:sp>
      <p:sp>
        <p:nvSpPr>
          <p:cNvPr id="7" name="Chevron 6"/>
          <p:cNvSpPr/>
          <p:nvPr/>
        </p:nvSpPr>
        <p:spPr>
          <a:xfrm>
            <a:off x="1371600" y="5303520"/>
            <a:ext cx="6400800" cy="731520"/>
          </a:xfrm>
          <a:prstGeom prst="chevron">
            <a:avLst/>
          </a:prstGeom>
          <a:solidFill>
            <a:srgbClr val="0099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Module 5: Manage a Project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800" b="1">
                <a:solidFill>
                  <a:srgbClr val="004080"/>
                </a:solidFill>
                <a:latin typeface="Segoe UI"/>
              </a:defRPr>
            </a:pPr>
            <a:r>
              <a:t>1. Compliance &amp; Security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Concepts:</a:t>
            </a:r>
          </a:p>
          <a:p>
            <a:pPr>
              <a:defRPr sz="1800"/>
            </a:pPr>
            <a:r>
              <a:t>• ISO/IEC 27001 Standards</a:t>
            </a:r>
            <a:br/>
            <a:r>
              <a:t>• NIST Cybersecurity Framework</a:t>
            </a:r>
            <a:br/>
            <a:r>
              <a:t>• Data Privacy (GDPR, DPDP)</a:t>
            </a:r>
            <a:br/>
            <a:r>
              <a:t>• The CIA Triad</a:t>
            </a:r>
            <a:br/>
            <a:r>
              <a:t>• Access Control Policies</a:t>
            </a:r>
          </a:p>
        </p:txBody>
      </p:sp>
      <p:sp>
        <p:nvSpPr>
          <p:cNvPr id="4" name="Donut 3"/>
          <p:cNvSpPr/>
          <p:nvPr/>
        </p:nvSpPr>
        <p:spPr>
          <a:xfrm>
            <a:off x="5029200" y="2011680"/>
            <a:ext cx="2743200" cy="2743200"/>
          </a:xfrm>
          <a:prstGeom prst="donu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3200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CIA</a:t>
            </a:r>
            <a:br/>
            <a:r>
              <a:t>Triad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800" b="1">
                <a:solidFill>
                  <a:srgbClr val="004080"/>
                </a:solidFill>
                <a:latin typeface="Segoe UI"/>
              </a:defRPr>
            </a:pPr>
            <a:r>
              <a:t>2. Network Security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4080"/>
                </a:solidFill>
              </a:defRPr>
            </a:pPr>
            <a:r>
              <a:t>Next-Gen Firewalls</a:t>
            </a:r>
          </a:p>
          <a:p>
            <a:pPr algn="ctr">
              <a:defRPr sz="1400">
                <a:solidFill>
                  <a:srgbClr val="505050"/>
                </a:solidFill>
              </a:defRPr>
            </a:pPr>
            <a:r>
              <a:t>Deep packet inspection, application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65760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4080"/>
                </a:solidFill>
              </a:defRPr>
            </a:pPr>
            <a:r>
              <a:t>IDS &amp; IPS</a:t>
            </a:r>
          </a:p>
          <a:p>
            <a:pPr algn="ctr">
              <a:defRPr sz="1400">
                <a:solidFill>
                  <a:srgbClr val="505050"/>
                </a:solidFill>
              </a:defRPr>
            </a:pPr>
            <a:r>
              <a:t>Detect and block malicious traffic signatures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365760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4080"/>
                </a:solidFill>
              </a:defRPr>
            </a:pPr>
            <a:r>
              <a:t>Zero Trust Model</a:t>
            </a:r>
          </a:p>
          <a:p>
            <a:pPr algn="ctr">
              <a:defRPr sz="1400">
                <a:solidFill>
                  <a:srgbClr val="505050"/>
                </a:solidFill>
              </a:defRPr>
            </a:pPr>
            <a:r>
              <a:t>Never trust, always verify. Micro-segmentation.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840480"/>
            <a:ext cx="365760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4080"/>
                </a:solidFill>
              </a:defRPr>
            </a:pPr>
            <a:r>
              <a:t>VPN Tunnels</a:t>
            </a:r>
          </a:p>
          <a:p>
            <a:pPr algn="ctr">
              <a:defRPr sz="1400">
                <a:solidFill>
                  <a:srgbClr val="505050"/>
                </a:solidFill>
              </a:defRPr>
            </a:pPr>
            <a:r>
              <a:t>IPSec and SSL/TLS for encrypted remote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800" b="1">
                <a:solidFill>
                  <a:srgbClr val="004080"/>
                </a:solidFill>
                <a:latin typeface="Segoe UI"/>
              </a:defRPr>
            </a:pPr>
            <a:r>
              <a:t>3. Configuration Review &amp;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Device Auditing and Baselines:</a:t>
            </a:r>
          </a:p>
          <a:p>
            <a:pPr>
              <a:defRPr sz="1800">
                <a:latin typeface="Segoe UI"/>
              </a:defRPr>
            </a:pPr>
            <a:r>
              <a:t>• Auditing routers, switches, and firewalls against CIS Benchmarks.</a:t>
            </a:r>
          </a:p>
          <a:p>
            <a:pPr>
              <a:defRPr sz="1800">
                <a:latin typeface="Segoe UI"/>
              </a:defRPr>
            </a:pPr>
            <a:r>
              <a:t>• Disabling insecure management protocols (Telnet, HTTP) in favor of SSH and HTTPS.</a:t>
            </a:r>
          </a:p>
          <a:p>
            <a:pPr>
              <a:defRPr sz="1800">
                <a:latin typeface="Segoe UI"/>
              </a:defRPr>
            </a:pPr>
            <a:r>
              <a:t>• Implementing strict password policies and Role-Based Access Control (RBAC).</a:t>
            </a:r>
          </a:p>
          <a:p>
            <a:pPr>
              <a:defRPr sz="1800">
                <a:latin typeface="Segoe UI"/>
              </a:defRPr>
            </a:pPr>
            <a:r>
              <a:t>• Enabling Port Security and Control Plane Policing (CoPP).</a:t>
            </a:r>
          </a:p>
          <a:p>
            <a:pPr>
              <a:defRPr sz="1800">
                <a:latin typeface="Segoe UI"/>
              </a:defRPr>
            </a:pPr>
            <a:r>
              <a:t>• Automating configuration reviews to prevent unauthorized configuration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800" b="1">
                <a:solidFill>
                  <a:srgbClr val="004080"/>
                </a:solidFill>
                <a:latin typeface="Segoe UI"/>
              </a:defRPr>
            </a:pPr>
            <a:r>
              <a:t>4. Vulnerability &amp; Exploitation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2743200"/>
            <a:ext cx="1828800" cy="1828800"/>
          </a:xfrm>
          <a:prstGeom prst="ellipse">
            <a:avLst/>
          </a:prstGeom>
          <a:solidFill>
            <a:srgbClr val="004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1. Reconnaissance</a:t>
            </a:r>
          </a:p>
          <a:p>
            <a:pPr algn="ctr">
              <a:defRPr sz="1200">
                <a:solidFill>
                  <a:srgbClr val="C8DCFF"/>
                </a:solidFill>
              </a:defRPr>
            </a:pPr>
            <a:r>
              <a:t>Nmap scanning, OS Fingerprinting</a:t>
            </a:r>
          </a:p>
        </p:txBody>
      </p:sp>
      <p:sp>
        <p:nvSpPr>
          <p:cNvPr id="4" name="Oval 3"/>
          <p:cNvSpPr/>
          <p:nvPr/>
        </p:nvSpPr>
        <p:spPr>
          <a:xfrm>
            <a:off x="2560320" y="2743200"/>
            <a:ext cx="1828800" cy="1828800"/>
          </a:xfrm>
          <a:prstGeom prst="ellipse">
            <a:avLst/>
          </a:prstGeom>
          <a:solidFill>
            <a:srgbClr val="004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2. Assessment</a:t>
            </a:r>
          </a:p>
          <a:p>
            <a:pPr algn="ctr">
              <a:defRPr sz="1200">
                <a:solidFill>
                  <a:srgbClr val="C8DCFF"/>
                </a:solidFill>
              </a:defRPr>
            </a:pPr>
            <a:r>
              <a:t>Identifying CVEs using Nessus/OpenVAS</a:t>
            </a:r>
          </a:p>
        </p:txBody>
      </p:sp>
      <p:sp>
        <p:nvSpPr>
          <p:cNvPr id="5" name="Oval 4"/>
          <p:cNvSpPr/>
          <p:nvPr/>
        </p:nvSpPr>
        <p:spPr>
          <a:xfrm>
            <a:off x="4663440" y="2743200"/>
            <a:ext cx="1828800" cy="1828800"/>
          </a:xfrm>
          <a:prstGeom prst="ellipse">
            <a:avLst/>
          </a:prstGeom>
          <a:solidFill>
            <a:srgbClr val="004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3. Exploitation</a:t>
            </a:r>
          </a:p>
          <a:p>
            <a:pPr algn="ctr">
              <a:defRPr sz="1200">
                <a:solidFill>
                  <a:srgbClr val="C8DCFF"/>
                </a:solidFill>
              </a:defRPr>
            </a:pPr>
            <a:r>
              <a:t>Running payloads via Metasploit</a:t>
            </a:r>
          </a:p>
        </p:txBody>
      </p:sp>
      <p:sp>
        <p:nvSpPr>
          <p:cNvPr id="6" name="Oval 5"/>
          <p:cNvSpPr/>
          <p:nvPr/>
        </p:nvSpPr>
        <p:spPr>
          <a:xfrm>
            <a:off x="6766559" y="2743200"/>
            <a:ext cx="1828800" cy="1828800"/>
          </a:xfrm>
          <a:prstGeom prst="ellipse">
            <a:avLst/>
          </a:prstGeom>
          <a:solidFill>
            <a:srgbClr val="004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4. Remediation</a:t>
            </a:r>
          </a:p>
          <a:p>
            <a:pPr algn="ctr">
              <a:defRPr sz="1200">
                <a:solidFill>
                  <a:srgbClr val="C8DCFF"/>
                </a:solidFill>
              </a:defRPr>
            </a:pPr>
            <a:r>
              <a:t>Patching and modifying firewall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800" b="1">
                <a:solidFill>
                  <a:srgbClr val="004080"/>
                </a:solidFill>
                <a:latin typeface="Segoe UI"/>
              </a:defRPr>
            </a:pPr>
            <a:r>
              <a:t>5. Project Team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Cybersecurity Leadership &amp; Coordination:</a:t>
            </a:r>
          </a:p>
          <a:p>
            <a:pPr>
              <a:defRPr sz="1800"/>
            </a:pPr>
            <a:r>
              <a:t>• Leading cross-functional teams (Network Admins, SOC Analysts, Compliance).</a:t>
            </a:r>
          </a:p>
          <a:p>
            <a:pPr>
              <a:defRPr sz="1800"/>
            </a:pPr>
            <a:r>
              <a:t>• Applying Agile methodologies to security infrastructure projects.</a:t>
            </a:r>
          </a:p>
          <a:p>
            <a:pPr>
              <a:defRPr sz="1800"/>
            </a:pPr>
            <a:r>
              <a:t>• Coordinating Incident Response tabletop exercises.</a:t>
            </a:r>
          </a:p>
          <a:p>
            <a:pPr>
              <a:defRPr sz="1800"/>
            </a:pPr>
            <a:r>
              <a:t>• Aligning technical security objectives with overarching business goals.</a:t>
            </a:r>
          </a:p>
          <a:p>
            <a:pPr>
              <a:defRPr sz="1800"/>
            </a:pPr>
            <a:r>
              <a:t>• Fostering a culture of continuous learning and threat awareness.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800" b="1">
                <a:solidFill>
                  <a:srgbClr val="004080"/>
                </a:solidFill>
                <a:latin typeface="Segoe UI"/>
              </a:defRPr>
            </a:pPr>
            <a:r>
              <a:t>Key Skills Acquired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✓ Network Architecture Design (Zero Trust)</a:t>
                      </a:r>
                    </a:p>
                  </a:txBody>
                  <a:tcPr>
                    <a:solidFill>
                      <a:srgbClr val="00999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✓ Compliance &amp; Audit Readiness (ISO 27001)</a:t>
                      </a:r>
                    </a:p>
                  </a:txBody>
                  <a:tcPr>
                    <a:solidFill>
                      <a:srgbClr val="00649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✓ Device Hardening (CIS Benchmarks)</a:t>
                      </a:r>
                    </a:p>
                  </a:txBody>
                  <a:tcPr>
                    <a:solidFill>
                      <a:srgbClr val="00999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✓ Vulnerability Scanning &amp; Ethical Hacking</a:t>
                      </a:r>
                    </a:p>
                  </a:txBody>
                  <a:tcPr>
                    <a:solidFill>
                      <a:srgbClr val="00649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✓ Project Lifecycle Management</a:t>
                      </a:r>
                    </a:p>
                  </a:txBody>
                  <a:tcPr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  <a:latin typeface="Segoe UI"/>
              </a:defRPr>
            </a:pPr>
            <a:r>
              <a:t>TANISHKA TANDON | 2CSE21</a:t>
            </a:r>
            <a:br/>
            <a:r>
              <a:t>IILM University, 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